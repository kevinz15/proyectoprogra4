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B24A9-DD09-4F62-9483-F615192AD9C4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FCA6F-231B-4ACF-A1FD-FF8D8021784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950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187EC-2AED-07AB-23F8-A37417F57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FE2D29-1CA8-B2CC-53D1-73E7280AC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4842C5-4DFF-2C30-24C5-3C6B8440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AEF346-9895-B8B0-3EE2-507541BD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3DF9D6-4954-24AF-0086-8C594BF6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8862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BD22-274D-CC33-52CB-58B489E6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A4226B-0A7E-9DC9-3D57-F920682D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134B3E-A1BB-BF80-C3BB-C1FDA8BA6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5BA833-7E35-A11A-0C88-02AD6428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99B6EA-D6A7-BC7A-CB0A-079ACFDB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3416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F3580-ADAC-3867-0EA3-FEC869F2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DAC0E0-0CEB-C549-45BF-237DED8B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279177-26F2-229A-36D6-DDC0D8D6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57A50C-7B5B-9FB5-DB77-9D0463A3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C92E66-784E-76CB-1535-A2AA9C24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7106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0B6E1-F381-C3D6-B47F-C6B23C7D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A8466-7EF2-43F5-B333-91E80DFE9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83F69B-B6B7-872D-3386-AFB7AB582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ACC05-771C-1DF9-1DAD-A1089A763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948068-586A-7023-16F3-968204AB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756C1A-C1A5-131E-005C-4D43A48C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2669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5D1D2-BC84-CADA-326B-1AD41EC4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B548CB-7917-CB2E-AD66-F72DB20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F0FB02-B430-8AF6-2D91-673A2C6B6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C812BC-0CF9-29A2-5D1B-9FA77A132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6A62CE-7F6A-3D84-1F1B-7A7C4663B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C1329D-12A3-DDA0-088F-FC76A1A6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0D4544-1A0C-39DD-17BD-98A1FEC3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CA3601-3F6E-8B36-11E8-D7F3835D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129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822A1-4511-B9AB-03F3-5D09D901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414177-7908-102A-D1FE-AFD23423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2C0D4B-4D12-1F34-2956-E8D8D61F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B8C810-81C2-95F4-0097-863E81E8B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5991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247CB5-2D0B-1371-5D81-1986B831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80336A-74C0-A7A7-C9FB-282FC60E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7DB6A4-409A-159B-1551-88AB3788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4039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0F8A1-34F9-B098-4D5F-55822B86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523E61-97A1-F286-317C-0C982969B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581164-B9FF-90EF-D7F7-A7C5781CF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08C73D-DCBD-26DD-428F-031CECB6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D3E3F5-980E-3B23-6F15-82209065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882F5F-5400-5B83-A59A-51FB7B56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0029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17C9B-D79B-A0FA-3FF2-6ECFE3E8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6A3CB6-9392-CA10-D2C5-0FA9845D0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39088C-F6B9-9158-9301-B92480844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EC7081-4DC7-63BD-6DEA-BCE775D4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3CB01B-868E-DD11-5A94-122C7ADC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271613-D58F-C1E1-14F4-2F48CDC1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4844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59093-04BF-E252-B82C-0D0C76D1C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39D182-50BD-E751-2F3A-E7EB80161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06DEC0-14DC-DB02-E4C2-AB83E50A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FA9DBD-C5FF-DB0F-E6CB-847709DF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281296-6DFE-6840-443A-14601575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4302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33DB2B-763C-B6E5-1AB0-A6B09881B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45858A-E60E-CCB0-A1EA-D600F0774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8BE76A-06B3-92FA-A86A-34A18B64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587A66-7F0F-322D-24A9-B06741E5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4D348A-BB3F-50A3-72FA-03883B88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79532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23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1DFB32-9A80-428F-3E08-4C64DA6AD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8DD5A9-BAFE-22CB-97D4-D81CF6344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D0FB9A-BB3D-310B-E3B2-F73E5FB27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4B5F4-BF28-4165-B9E3-7D783866B50B}" type="datetimeFigureOut">
              <a:rPr lang="es-CR" smtClean="0"/>
              <a:t>18/4/2026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EF244C-5CA9-B3A6-604F-B9C04DA93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052B13-B642-1DED-8DFD-5541F204D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387C4-B99F-4B18-9742-65E74137CAA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5445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6" y="1752600"/>
            <a:ext cx="666751" cy="76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37847" y="2888457"/>
            <a:ext cx="4316310" cy="702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733"/>
              </a:lnSpc>
            </a:pPr>
            <a:r>
              <a:rPr lang="en-US" sz="4392" b="1" kern="0" spc="-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 </a:t>
            </a:r>
            <a:r>
              <a:rPr lang="en-US" sz="4392" b="1" kern="0" spc="-1" dirty="0" err="1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</a:t>
            </a:r>
            <a:r>
              <a:rPr lang="en-US" sz="4392" b="1" kern="0" spc="-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WEB</a:t>
            </a:r>
            <a:endParaRPr lang="en-US" sz="4392" dirty="0"/>
          </a:p>
        </p:txBody>
      </p:sp>
      <p:sp>
        <p:nvSpPr>
          <p:cNvPr id="5" name="Text 1"/>
          <p:cNvSpPr/>
          <p:nvPr/>
        </p:nvSpPr>
        <p:spPr>
          <a:xfrm>
            <a:off x="4920358" y="3721894"/>
            <a:ext cx="2351285" cy="358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2272" kern="0" spc="4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PROGRAMACIÓN IV</a:t>
            </a:r>
            <a:endParaRPr lang="en-US" sz="2272" dirty="0"/>
          </a:p>
        </p:txBody>
      </p:sp>
      <p:sp>
        <p:nvSpPr>
          <p:cNvPr id="7" name="Text 3"/>
          <p:cNvSpPr/>
          <p:nvPr/>
        </p:nvSpPr>
        <p:spPr>
          <a:xfrm>
            <a:off x="5041389" y="4872038"/>
            <a:ext cx="2109232" cy="1511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316" b="1" dirty="0" err="1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Integrantes</a:t>
            </a:r>
            <a:r>
              <a:rPr lang="en-US" sz="1316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en-US" sz="1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Emanuel Carrillo Soto</a:t>
            </a:r>
          </a:p>
          <a:p>
            <a:pPr>
              <a:lnSpc>
                <a:spcPts val="2400"/>
              </a:lnSpc>
            </a:pPr>
            <a:r>
              <a:rPr lang="en-US" sz="1400" dirty="0" err="1">
                <a:solidFill>
                  <a:srgbClr val="8892B0"/>
                </a:solidFill>
                <a:latin typeface="Inter" pitchFamily="34" charset="0"/>
                <a:ea typeface="Inter" pitchFamily="34" charset="-122"/>
              </a:rPr>
              <a:t>Francela</a:t>
            </a:r>
            <a:r>
              <a:rPr lang="en-US" sz="1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</a:rPr>
              <a:t> Monserrat </a:t>
            </a:r>
            <a:r>
              <a:rPr lang="en-US" sz="1400" dirty="0" err="1">
                <a:solidFill>
                  <a:srgbClr val="8892B0"/>
                </a:solidFill>
                <a:latin typeface="Inter" pitchFamily="34" charset="0"/>
                <a:ea typeface="Inter" pitchFamily="34" charset="-122"/>
              </a:rPr>
              <a:t>Castañer</a:t>
            </a:r>
            <a:endParaRPr lang="en-US" sz="1400" dirty="0">
              <a:solidFill>
                <a:srgbClr val="8892B0"/>
              </a:solidFill>
              <a:latin typeface="Inter" pitchFamily="34" charset="0"/>
              <a:ea typeface="Inter" pitchFamily="34" charset="-122"/>
            </a:endParaRPr>
          </a:p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</a:rPr>
              <a:t>Randy Santiago Cedeño</a:t>
            </a:r>
          </a:p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</a:rPr>
              <a:t>Kevin Zamora Soto</a:t>
            </a:r>
            <a:endParaRPr lang="en-US" sz="131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4438950" cy="527709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Introducción al Proyecto</a:t>
            </a:r>
            <a:endParaRPr lang="en-US" sz="3248" dirty="0"/>
          </a:p>
        </p:txBody>
      </p:sp>
      <p:sp>
        <p:nvSpPr>
          <p:cNvPr id="4" name="Text 1"/>
          <p:cNvSpPr/>
          <p:nvPr/>
        </p:nvSpPr>
        <p:spPr>
          <a:xfrm>
            <a:off x="762000" y="1695451"/>
            <a:ext cx="5048251" cy="1082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169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web robusta desarrollada con el micro-framework </a:t>
            </a:r>
            <a:r>
              <a:rPr lang="en-US" sz="1591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</a:t>
            </a:r>
            <a:r>
              <a:rPr lang="en-US" sz="169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diseñada para ofrecer una experiencia de usuario segura y eficiente.</a:t>
            </a:r>
            <a:endParaRPr lang="en-US" sz="1692" dirty="0"/>
          </a:p>
        </p:txBody>
      </p:sp>
      <p:sp>
        <p:nvSpPr>
          <p:cNvPr id="5" name="Text 2"/>
          <p:cNvSpPr/>
          <p:nvPr/>
        </p:nvSpPr>
        <p:spPr>
          <a:xfrm>
            <a:off x="762000" y="2792685"/>
            <a:ext cx="5048251" cy="1311107"/>
          </a:xfrm>
          <a:prstGeom prst="rect">
            <a:avLst/>
          </a:prstGeom>
          <a:noFill/>
          <a:ln/>
        </p:spPr>
        <p:txBody>
          <a:bodyPr wrap="square" lIns="0" tIns="226737" rIns="0" bIns="0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169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integra tecnologías modernas para el manejo de datos y autenticación, cumpliendo con los estándares de </a:t>
            </a:r>
            <a:r>
              <a:rPr lang="en-US" sz="1591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Programación IV</a:t>
            </a:r>
            <a:r>
              <a:rPr lang="en-US" sz="169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92" dirty="0"/>
          </a:p>
        </p:txBody>
      </p:sp>
      <p:sp>
        <p:nvSpPr>
          <p:cNvPr id="6" name="Shape 3"/>
          <p:cNvSpPr/>
          <p:nvPr/>
        </p:nvSpPr>
        <p:spPr>
          <a:xfrm>
            <a:off x="6381751" y="1695451"/>
            <a:ext cx="5048251" cy="750093"/>
          </a:xfrm>
          <a:prstGeom prst="rect">
            <a:avLst/>
          </a:prstGeom>
          <a:solidFill>
            <a:srgbClr val="112240">
              <a:alpha val="50000"/>
            </a:srgbClr>
          </a:solidFill>
          <a:ln/>
        </p:spPr>
        <p:txBody>
          <a:bodyPr/>
          <a:lstStyle/>
          <a:p>
            <a:endParaRPr lang="es-CR" sz="2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875" y="1914525"/>
            <a:ext cx="381000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39001" y="1955007"/>
            <a:ext cx="2760371" cy="231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 inicio de sesión de usuarios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381751" y="2731294"/>
            <a:ext cx="5048251" cy="750093"/>
          </a:xfrm>
          <a:prstGeom prst="rect">
            <a:avLst/>
          </a:prstGeom>
          <a:solidFill>
            <a:srgbClr val="112240">
              <a:alpha val="50000"/>
            </a:srgbClr>
          </a:solidFill>
          <a:ln/>
        </p:spPr>
        <p:txBody>
          <a:bodyPr/>
          <a:lstStyle/>
          <a:p>
            <a:endParaRPr lang="es-CR" sz="24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75" y="2950369"/>
            <a:ext cx="228600" cy="304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39001" y="2990851"/>
            <a:ext cx="2496133" cy="231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formularios de clientes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381751" y="3767138"/>
            <a:ext cx="5048251" cy="750093"/>
          </a:xfrm>
          <a:prstGeom prst="rect">
            <a:avLst/>
          </a:prstGeom>
          <a:solidFill>
            <a:srgbClr val="112240">
              <a:alpha val="50000"/>
            </a:srgbClr>
          </a:solidFill>
          <a:ln/>
        </p:spPr>
        <p:txBody>
          <a:bodyPr/>
          <a:lstStyle/>
          <a:p>
            <a:endParaRPr lang="es-CR" sz="24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6" y="3986212"/>
            <a:ext cx="2667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39000" y="4026694"/>
            <a:ext cx="2345450" cy="231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Persistencia de datos con SQLite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4130212" cy="527709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del Proyecto</a:t>
            </a:r>
            <a:endParaRPr lang="en-US" sz="3248" dirty="0"/>
          </a:p>
        </p:txBody>
      </p:sp>
      <p:sp>
        <p:nvSpPr>
          <p:cNvPr id="4" name="Shape 1"/>
          <p:cNvSpPr/>
          <p:nvPr/>
        </p:nvSpPr>
        <p:spPr>
          <a:xfrm>
            <a:off x="762001" y="1695452"/>
            <a:ext cx="5143500" cy="2083593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2" y="2014538"/>
            <a:ext cx="428625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7751" y="2540794"/>
            <a:ext cx="1167756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</a:t>
            </a:r>
            <a:endParaRPr lang="en-US" sz="1591" dirty="0"/>
          </a:p>
        </p:txBody>
      </p:sp>
      <p:sp>
        <p:nvSpPr>
          <p:cNvPr id="7" name="Text 3"/>
          <p:cNvSpPr/>
          <p:nvPr/>
        </p:nvSpPr>
        <p:spPr>
          <a:xfrm>
            <a:off x="1047751" y="2959894"/>
            <a:ext cx="4572000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un sistema de login y registro seguro con validación de credenciales.</a:t>
            </a:r>
            <a:endParaRPr lang="en-US" sz="1256" dirty="0"/>
          </a:p>
        </p:txBody>
      </p:sp>
      <p:sp>
        <p:nvSpPr>
          <p:cNvPr id="8" name="Shape 4"/>
          <p:cNvSpPr/>
          <p:nvPr/>
        </p:nvSpPr>
        <p:spPr>
          <a:xfrm>
            <a:off x="6286501" y="1695452"/>
            <a:ext cx="5143500" cy="2083593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1" y="2014538"/>
            <a:ext cx="385763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72251" y="2540794"/>
            <a:ext cx="1513299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MVC</a:t>
            </a:r>
            <a:endParaRPr lang="en-US" sz="1591" dirty="0"/>
          </a:p>
        </p:txBody>
      </p:sp>
      <p:sp>
        <p:nvSpPr>
          <p:cNvPr id="11" name="Text 6"/>
          <p:cNvSpPr/>
          <p:nvPr/>
        </p:nvSpPr>
        <p:spPr>
          <a:xfrm>
            <a:off x="6572251" y="2959894"/>
            <a:ext cx="4572000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el patrón Modelo-Vista-Controlador para una organización modular del código.</a:t>
            </a:r>
            <a:endParaRPr lang="en-US" sz="1256" dirty="0"/>
          </a:p>
        </p:txBody>
      </p:sp>
      <p:sp>
        <p:nvSpPr>
          <p:cNvPr id="12" name="Shape 7"/>
          <p:cNvSpPr/>
          <p:nvPr/>
        </p:nvSpPr>
        <p:spPr>
          <a:xfrm>
            <a:off x="762001" y="4160045"/>
            <a:ext cx="5143500" cy="2083593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1" y="4479131"/>
            <a:ext cx="342900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7751" y="5005389"/>
            <a:ext cx="1004121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Persistencia</a:t>
            </a:r>
            <a:endParaRPr lang="en-US" sz="1591" dirty="0"/>
          </a:p>
        </p:txBody>
      </p:sp>
      <p:sp>
        <p:nvSpPr>
          <p:cNvPr id="15" name="Text 9"/>
          <p:cNvSpPr/>
          <p:nvPr/>
        </p:nvSpPr>
        <p:spPr>
          <a:xfrm>
            <a:off x="1047751" y="5424489"/>
            <a:ext cx="4572000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Garantizar el almacenamiento permanente de datos en bases de datos SQLite.</a:t>
            </a:r>
            <a:endParaRPr lang="en-US" sz="1256" dirty="0"/>
          </a:p>
        </p:txBody>
      </p:sp>
      <p:sp>
        <p:nvSpPr>
          <p:cNvPr id="16" name="Shape 10"/>
          <p:cNvSpPr/>
          <p:nvPr/>
        </p:nvSpPr>
        <p:spPr>
          <a:xfrm>
            <a:off x="6286501" y="4160045"/>
            <a:ext cx="5143500" cy="2083593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1" y="4460082"/>
            <a:ext cx="300037" cy="342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72252" y="4986338"/>
            <a:ext cx="844783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</a:t>
            </a:r>
            <a:endParaRPr lang="en-US" sz="1591" dirty="0"/>
          </a:p>
        </p:txBody>
      </p:sp>
      <p:sp>
        <p:nvSpPr>
          <p:cNvPr id="19" name="Text 12"/>
          <p:cNvSpPr/>
          <p:nvPr/>
        </p:nvSpPr>
        <p:spPr>
          <a:xfrm>
            <a:off x="6572251" y="5405438"/>
            <a:ext cx="4572000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Proteger rutas sensibles y manejar sesiones de usuario de manera efectiva.</a:t>
            </a:r>
            <a:endParaRPr lang="en-US" sz="12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5664222" cy="527709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del Sistema (MVC)</a:t>
            </a:r>
            <a:endParaRPr lang="en-US" sz="3248" dirty="0"/>
          </a:p>
        </p:txBody>
      </p:sp>
      <p:sp>
        <p:nvSpPr>
          <p:cNvPr id="4" name="Shape 1"/>
          <p:cNvSpPr/>
          <p:nvPr/>
        </p:nvSpPr>
        <p:spPr>
          <a:xfrm>
            <a:off x="571501" y="1417817"/>
            <a:ext cx="4038600" cy="4286251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994298"/>
            <a:ext cx="214312" cy="190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0189" y="1981201"/>
            <a:ext cx="966611" cy="236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proyecto/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1" y="2353866"/>
            <a:ext cx="166688" cy="190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38313" y="2340770"/>
            <a:ext cx="644407" cy="236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292" y="2718795"/>
            <a:ext cx="190500" cy="1905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08385" y="2704932"/>
            <a:ext cx="1288814" cy="236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4939" y="3077597"/>
            <a:ext cx="190500" cy="1905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38313" y="3064501"/>
            <a:ext cx="751809" cy="236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4939" y="3437167"/>
            <a:ext cx="190500" cy="1905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738313" y="3424069"/>
            <a:ext cx="1074012" cy="236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4939" y="3796735"/>
            <a:ext cx="190500" cy="1905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738313" y="3783639"/>
            <a:ext cx="751809" cy="236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939" y="4156304"/>
            <a:ext cx="190500" cy="1905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738313" y="4143207"/>
            <a:ext cx="966611" cy="236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400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5372101" y="1695451"/>
            <a:ext cx="1410643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(Models)</a:t>
            </a:r>
            <a:endParaRPr lang="en-US" sz="1453" dirty="0"/>
          </a:p>
        </p:txBody>
      </p:sp>
      <p:sp>
        <p:nvSpPr>
          <p:cNvPr id="20" name="Text 10"/>
          <p:cNvSpPr/>
          <p:nvPr/>
        </p:nvSpPr>
        <p:spPr>
          <a:xfrm>
            <a:off x="5372101" y="1995489"/>
            <a:ext cx="6057900" cy="47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de tablas y lógica de acceso a datos en SQLite. Encapsula las consultas SQL.</a:t>
            </a:r>
            <a:endParaRPr lang="en-US" sz="1256" dirty="0"/>
          </a:p>
        </p:txBody>
      </p:sp>
      <p:sp>
        <p:nvSpPr>
          <p:cNvPr id="21" name="Text 11"/>
          <p:cNvSpPr/>
          <p:nvPr/>
        </p:nvSpPr>
        <p:spPr>
          <a:xfrm>
            <a:off x="5372101" y="2713658"/>
            <a:ext cx="2456313" cy="241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Controladores (Controllers)</a:t>
            </a:r>
            <a:endParaRPr lang="en-US" sz="1453" dirty="0"/>
          </a:p>
        </p:txBody>
      </p:sp>
      <p:sp>
        <p:nvSpPr>
          <p:cNvPr id="22" name="Text 12"/>
          <p:cNvSpPr/>
          <p:nvPr/>
        </p:nvSpPr>
        <p:spPr>
          <a:xfrm>
            <a:off x="5372101" y="3013695"/>
            <a:ext cx="6057900" cy="47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Procesan las peticiones del usuario, validan datos y coordinan la lógica de negocio.</a:t>
            </a:r>
            <a:endParaRPr lang="en-US" sz="1256" dirty="0"/>
          </a:p>
        </p:txBody>
      </p:sp>
      <p:sp>
        <p:nvSpPr>
          <p:cNvPr id="23" name="Text 13"/>
          <p:cNvSpPr/>
          <p:nvPr/>
        </p:nvSpPr>
        <p:spPr>
          <a:xfrm>
            <a:off x="5372100" y="3731866"/>
            <a:ext cx="1622304" cy="241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Vistas (Templates)</a:t>
            </a:r>
            <a:endParaRPr lang="en-US" sz="1453" dirty="0"/>
          </a:p>
        </p:txBody>
      </p:sp>
      <p:sp>
        <p:nvSpPr>
          <p:cNvPr id="24" name="Text 14"/>
          <p:cNvSpPr/>
          <p:nvPr/>
        </p:nvSpPr>
        <p:spPr>
          <a:xfrm>
            <a:off x="5372101" y="4031903"/>
            <a:ext cx="6057900" cy="47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 HTML dinámicos con Jinja2 que presentan la información al usuario final.</a:t>
            </a:r>
            <a:endParaRPr lang="en-US" sz="1256" dirty="0"/>
          </a:p>
        </p:txBody>
      </p:sp>
      <p:sp>
        <p:nvSpPr>
          <p:cNvPr id="25" name="Text 15"/>
          <p:cNvSpPr/>
          <p:nvPr/>
        </p:nvSpPr>
        <p:spPr>
          <a:xfrm>
            <a:off x="5372100" y="4750074"/>
            <a:ext cx="2339615" cy="241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Entrada (app.py)</a:t>
            </a:r>
            <a:endParaRPr lang="en-US" sz="1453" dirty="0"/>
          </a:p>
        </p:txBody>
      </p:sp>
      <p:sp>
        <p:nvSpPr>
          <p:cNvPr id="26" name="Text 16"/>
          <p:cNvSpPr/>
          <p:nvPr/>
        </p:nvSpPr>
        <p:spPr>
          <a:xfrm>
            <a:off x="5372100" y="5050111"/>
            <a:ext cx="5280356" cy="225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Configuración global, definición de rutas y arranque del servidor Flask.</a:t>
            </a:r>
            <a:endParaRPr lang="en-US" sz="12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1" y="571501"/>
            <a:ext cx="7063836" cy="524567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y Lógica de Entrada</a:t>
            </a:r>
            <a:endParaRPr lang="en-US" sz="3248" dirty="0"/>
          </a:p>
        </p:txBody>
      </p:sp>
      <p:sp>
        <p:nvSpPr>
          <p:cNvPr id="4" name="Text 1"/>
          <p:cNvSpPr/>
          <p:nvPr/>
        </p:nvSpPr>
        <p:spPr>
          <a:xfrm>
            <a:off x="762000" y="1695451"/>
            <a:ext cx="2559803" cy="256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Entrada (app.py)</a:t>
            </a:r>
            <a:endParaRPr lang="en-US" sz="1591" dirty="0"/>
          </a:p>
        </p:txBody>
      </p:sp>
      <p:sp>
        <p:nvSpPr>
          <p:cNvPr id="5" name="Text 2"/>
          <p:cNvSpPr/>
          <p:nvPr/>
        </p:nvSpPr>
        <p:spPr>
          <a:xfrm>
            <a:off x="762000" y="2066926"/>
            <a:ext cx="4632611" cy="49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la configuración de Flask, la definición de rutas y la gestión de la clave secreta para sesiones.</a:t>
            </a:r>
            <a:endParaRPr lang="en-US" sz="1256" dirty="0"/>
          </a:p>
        </p:txBody>
      </p:sp>
      <p:sp>
        <p:nvSpPr>
          <p:cNvPr id="6" name="Text 3"/>
          <p:cNvSpPr/>
          <p:nvPr/>
        </p:nvSpPr>
        <p:spPr>
          <a:xfrm>
            <a:off x="762000" y="2867026"/>
            <a:ext cx="2186432" cy="256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Inicialización de Datos</a:t>
            </a:r>
            <a:endParaRPr lang="en-US" sz="1591" dirty="0"/>
          </a:p>
        </p:txBody>
      </p:sp>
      <p:sp>
        <p:nvSpPr>
          <p:cNvPr id="7" name="Text 4"/>
          <p:cNvSpPr/>
          <p:nvPr/>
        </p:nvSpPr>
        <p:spPr>
          <a:xfrm>
            <a:off x="762000" y="3238500"/>
            <a:ext cx="4632611" cy="7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arrancar la aplicación, se ejecutan las funciones de creación de tablas para asegurar que las bases de datos SQLite estén listas.</a:t>
            </a:r>
            <a:endParaRPr lang="en-US" sz="1256" dirty="0"/>
          </a:p>
        </p:txBody>
      </p:sp>
      <p:sp>
        <p:nvSpPr>
          <p:cNvPr id="8" name="Text 5"/>
          <p:cNvSpPr/>
          <p:nvPr/>
        </p:nvSpPr>
        <p:spPr>
          <a:xfrm>
            <a:off x="762000" y="4295775"/>
            <a:ext cx="2484334" cy="256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Controladores y Modelos</a:t>
            </a:r>
            <a:endParaRPr lang="en-US" sz="1591" dirty="0"/>
          </a:p>
        </p:txBody>
      </p:sp>
      <p:sp>
        <p:nvSpPr>
          <p:cNvPr id="9" name="Text 6"/>
          <p:cNvSpPr/>
          <p:nvPr/>
        </p:nvSpPr>
        <p:spPr>
          <a:xfrm>
            <a:off x="762000" y="4667252"/>
            <a:ext cx="4632611" cy="49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controladores procesan la lógica de negocio mientras los modelos encapsulan el acceso a SQLite.</a:t>
            </a:r>
            <a:endParaRPr lang="en-US" sz="1256" dirty="0"/>
          </a:p>
        </p:txBody>
      </p:sp>
      <p:sp>
        <p:nvSpPr>
          <p:cNvPr id="10" name="Shape 7"/>
          <p:cNvSpPr/>
          <p:nvPr/>
        </p:nvSpPr>
        <p:spPr>
          <a:xfrm>
            <a:off x="5870861" y="1695451"/>
            <a:ext cx="5559140" cy="4004072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sp>
        <p:nvSpPr>
          <p:cNvPr id="11" name="Text 8"/>
          <p:cNvSpPr/>
          <p:nvPr/>
        </p:nvSpPr>
        <p:spPr>
          <a:xfrm>
            <a:off x="6156611" y="1981201"/>
            <a:ext cx="2123979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i="1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 - Inicialización</a:t>
            </a:r>
            <a:endParaRPr lang="en-US" sz="1112" dirty="0"/>
          </a:p>
        </p:txBody>
      </p:sp>
      <p:sp>
        <p:nvSpPr>
          <p:cNvPr id="12" name="Text 9"/>
          <p:cNvSpPr/>
          <p:nvPr/>
        </p:nvSpPr>
        <p:spPr>
          <a:xfrm>
            <a:off x="6156611" y="2426941"/>
            <a:ext cx="339837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12" dirty="0"/>
          </a:p>
        </p:txBody>
      </p:sp>
      <p:sp>
        <p:nvSpPr>
          <p:cNvPr id="13" name="Text 10"/>
          <p:cNvSpPr/>
          <p:nvPr/>
        </p:nvSpPr>
        <p:spPr>
          <a:xfrm>
            <a:off x="6522429" y="2426941"/>
            <a:ext cx="424796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112" dirty="0"/>
          </a:p>
        </p:txBody>
      </p:sp>
      <p:sp>
        <p:nvSpPr>
          <p:cNvPr id="14" name="Text 11"/>
          <p:cNvSpPr/>
          <p:nvPr/>
        </p:nvSpPr>
        <p:spPr>
          <a:xfrm>
            <a:off x="7162614" y="2426941"/>
            <a:ext cx="509755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112" dirty="0"/>
          </a:p>
        </p:txBody>
      </p:sp>
      <p:sp>
        <p:nvSpPr>
          <p:cNvPr id="15" name="Text 12"/>
          <p:cNvSpPr/>
          <p:nvPr/>
        </p:nvSpPr>
        <p:spPr>
          <a:xfrm>
            <a:off x="7711343" y="2426941"/>
            <a:ext cx="424796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112" dirty="0"/>
          </a:p>
        </p:txBody>
      </p:sp>
      <p:sp>
        <p:nvSpPr>
          <p:cNvPr id="16" name="Text 13"/>
          <p:cNvSpPr/>
          <p:nvPr/>
        </p:nvSpPr>
        <p:spPr>
          <a:xfrm>
            <a:off x="6156611" y="2640286"/>
            <a:ext cx="339837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12" dirty="0"/>
          </a:p>
        </p:txBody>
      </p:sp>
      <p:sp>
        <p:nvSpPr>
          <p:cNvPr id="17" name="Text 14"/>
          <p:cNvSpPr/>
          <p:nvPr/>
        </p:nvSpPr>
        <p:spPr>
          <a:xfrm>
            <a:off x="6522430" y="2640286"/>
            <a:ext cx="1444306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models.user_model</a:t>
            </a:r>
            <a:endParaRPr lang="en-US" sz="1112" dirty="0"/>
          </a:p>
        </p:txBody>
      </p:sp>
      <p:sp>
        <p:nvSpPr>
          <p:cNvPr id="18" name="Text 15"/>
          <p:cNvSpPr/>
          <p:nvPr/>
        </p:nvSpPr>
        <p:spPr>
          <a:xfrm>
            <a:off x="8260073" y="2640286"/>
            <a:ext cx="509755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112" dirty="0"/>
          </a:p>
        </p:txBody>
      </p:sp>
      <p:sp>
        <p:nvSpPr>
          <p:cNvPr id="19" name="Text 16"/>
          <p:cNvSpPr/>
          <p:nvPr/>
        </p:nvSpPr>
        <p:spPr>
          <a:xfrm>
            <a:off x="8808801" y="2640286"/>
            <a:ext cx="1189428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init_databases</a:t>
            </a:r>
            <a:endParaRPr lang="en-US" sz="1112" dirty="0"/>
          </a:p>
        </p:txBody>
      </p:sp>
      <p:sp>
        <p:nvSpPr>
          <p:cNvPr id="20" name="Text 17"/>
          <p:cNvSpPr/>
          <p:nvPr/>
        </p:nvSpPr>
        <p:spPr>
          <a:xfrm>
            <a:off x="6156611" y="2853631"/>
            <a:ext cx="339837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12" dirty="0"/>
          </a:p>
        </p:txBody>
      </p:sp>
      <p:sp>
        <p:nvSpPr>
          <p:cNvPr id="21" name="Text 18"/>
          <p:cNvSpPr/>
          <p:nvPr/>
        </p:nvSpPr>
        <p:spPr>
          <a:xfrm>
            <a:off x="6522430" y="2853631"/>
            <a:ext cx="1954061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models.formulario_model</a:t>
            </a:r>
            <a:endParaRPr lang="en-US" sz="1112" dirty="0"/>
          </a:p>
        </p:txBody>
      </p:sp>
      <p:sp>
        <p:nvSpPr>
          <p:cNvPr id="22" name="Text 19"/>
          <p:cNvSpPr/>
          <p:nvPr/>
        </p:nvSpPr>
        <p:spPr>
          <a:xfrm>
            <a:off x="8808802" y="2853631"/>
            <a:ext cx="509755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112" dirty="0"/>
          </a:p>
        </p:txBody>
      </p:sp>
      <p:sp>
        <p:nvSpPr>
          <p:cNvPr id="23" name="Text 20"/>
          <p:cNvSpPr/>
          <p:nvPr/>
        </p:nvSpPr>
        <p:spPr>
          <a:xfrm>
            <a:off x="6156611" y="3066977"/>
            <a:ext cx="1614224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init_db_formularios</a:t>
            </a:r>
            <a:endParaRPr lang="en-US" sz="1112" dirty="0"/>
          </a:p>
        </p:txBody>
      </p:sp>
      <p:sp>
        <p:nvSpPr>
          <p:cNvPr id="24" name="Text 21"/>
          <p:cNvSpPr/>
          <p:nvPr/>
        </p:nvSpPr>
        <p:spPr>
          <a:xfrm>
            <a:off x="6156611" y="3493666"/>
            <a:ext cx="424796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</a:t>
            </a:r>
            <a:endParaRPr lang="en-US" sz="1112" dirty="0"/>
          </a:p>
        </p:txBody>
      </p:sp>
      <p:sp>
        <p:nvSpPr>
          <p:cNvPr id="25" name="Text 22"/>
          <p:cNvSpPr/>
          <p:nvPr/>
        </p:nvSpPr>
        <p:spPr>
          <a:xfrm>
            <a:off x="6705340" y="3493666"/>
            <a:ext cx="424796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112" dirty="0"/>
          </a:p>
        </p:txBody>
      </p:sp>
      <p:sp>
        <p:nvSpPr>
          <p:cNvPr id="26" name="Text 23"/>
          <p:cNvSpPr/>
          <p:nvPr/>
        </p:nvSpPr>
        <p:spPr>
          <a:xfrm>
            <a:off x="7162614" y="3493666"/>
            <a:ext cx="849592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(__name__)</a:t>
            </a:r>
            <a:endParaRPr lang="en-US" sz="1112" dirty="0"/>
          </a:p>
        </p:txBody>
      </p:sp>
      <p:sp>
        <p:nvSpPr>
          <p:cNvPr id="27" name="Text 24"/>
          <p:cNvSpPr/>
          <p:nvPr/>
        </p:nvSpPr>
        <p:spPr>
          <a:xfrm>
            <a:off x="6156611" y="3707011"/>
            <a:ext cx="1359346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app.secret_key =</a:t>
            </a:r>
            <a:endParaRPr lang="en-US" sz="1112" dirty="0"/>
          </a:p>
        </p:txBody>
      </p:sp>
      <p:sp>
        <p:nvSpPr>
          <p:cNvPr id="28" name="Text 25"/>
          <p:cNvSpPr/>
          <p:nvPr/>
        </p:nvSpPr>
        <p:spPr>
          <a:xfrm>
            <a:off x="7711343" y="3707011"/>
            <a:ext cx="2208938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'super_secret_key_progra4'</a:t>
            </a:r>
            <a:endParaRPr lang="en-US" sz="1112" dirty="0"/>
          </a:p>
        </p:txBody>
      </p:sp>
      <p:sp>
        <p:nvSpPr>
          <p:cNvPr id="29" name="Text 26"/>
          <p:cNvSpPr/>
          <p:nvPr/>
        </p:nvSpPr>
        <p:spPr>
          <a:xfrm>
            <a:off x="6156611" y="4133702"/>
            <a:ext cx="2378856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i="1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Inicializar bases de datos</a:t>
            </a:r>
            <a:endParaRPr lang="en-US" sz="1112" dirty="0"/>
          </a:p>
        </p:txBody>
      </p:sp>
      <p:sp>
        <p:nvSpPr>
          <p:cNvPr id="30" name="Text 27"/>
          <p:cNvSpPr/>
          <p:nvPr/>
        </p:nvSpPr>
        <p:spPr>
          <a:xfrm>
            <a:off x="6156611" y="4347047"/>
            <a:ext cx="1189428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init_databases</a:t>
            </a:r>
            <a:endParaRPr lang="en-US" sz="1112" dirty="0"/>
          </a:p>
        </p:txBody>
      </p:sp>
      <p:sp>
        <p:nvSpPr>
          <p:cNvPr id="31" name="Text 28"/>
          <p:cNvSpPr/>
          <p:nvPr/>
        </p:nvSpPr>
        <p:spPr>
          <a:xfrm>
            <a:off x="7436979" y="4347047"/>
            <a:ext cx="169918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12" dirty="0"/>
          </a:p>
        </p:txBody>
      </p:sp>
      <p:sp>
        <p:nvSpPr>
          <p:cNvPr id="32" name="Text 29"/>
          <p:cNvSpPr/>
          <p:nvPr/>
        </p:nvSpPr>
        <p:spPr>
          <a:xfrm>
            <a:off x="6156611" y="4560393"/>
            <a:ext cx="1614224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init_db_formularios</a:t>
            </a:r>
            <a:endParaRPr lang="en-US" sz="1112" dirty="0"/>
          </a:p>
        </p:txBody>
      </p:sp>
      <p:sp>
        <p:nvSpPr>
          <p:cNvPr id="33" name="Text 30"/>
          <p:cNvSpPr/>
          <p:nvPr/>
        </p:nvSpPr>
        <p:spPr>
          <a:xfrm>
            <a:off x="7894254" y="4560393"/>
            <a:ext cx="169918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12" dirty="0"/>
          </a:p>
        </p:txBody>
      </p:sp>
      <p:sp>
        <p:nvSpPr>
          <p:cNvPr id="34" name="Text 31"/>
          <p:cNvSpPr/>
          <p:nvPr/>
        </p:nvSpPr>
        <p:spPr>
          <a:xfrm>
            <a:off x="6156611" y="4987082"/>
            <a:ext cx="169918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12" dirty="0"/>
          </a:p>
        </p:txBody>
      </p:sp>
      <p:sp>
        <p:nvSpPr>
          <p:cNvPr id="35" name="Text 32"/>
          <p:cNvSpPr/>
          <p:nvPr/>
        </p:nvSpPr>
        <p:spPr>
          <a:xfrm>
            <a:off x="6339521" y="4987082"/>
            <a:ext cx="934551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 ==</a:t>
            </a:r>
            <a:endParaRPr lang="en-US" sz="1112" dirty="0"/>
          </a:p>
        </p:txBody>
      </p:sp>
      <p:sp>
        <p:nvSpPr>
          <p:cNvPr id="36" name="Text 33"/>
          <p:cNvSpPr/>
          <p:nvPr/>
        </p:nvSpPr>
        <p:spPr>
          <a:xfrm>
            <a:off x="7528434" y="4987082"/>
            <a:ext cx="849592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'__main__'</a:t>
            </a:r>
            <a:endParaRPr lang="en-US" sz="1112" dirty="0"/>
          </a:p>
        </p:txBody>
      </p:sp>
      <p:sp>
        <p:nvSpPr>
          <p:cNvPr id="37" name="Text 34"/>
          <p:cNvSpPr/>
          <p:nvPr/>
        </p:nvSpPr>
        <p:spPr>
          <a:xfrm>
            <a:off x="8442983" y="4987082"/>
            <a:ext cx="84960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12" dirty="0"/>
          </a:p>
        </p:txBody>
      </p:sp>
      <p:sp>
        <p:nvSpPr>
          <p:cNvPr id="38" name="Text 35"/>
          <p:cNvSpPr/>
          <p:nvPr/>
        </p:nvSpPr>
        <p:spPr>
          <a:xfrm>
            <a:off x="6156611" y="5200427"/>
            <a:ext cx="339837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endParaRPr lang="en-US" sz="1112" dirty="0"/>
          </a:p>
        </p:txBody>
      </p:sp>
      <p:sp>
        <p:nvSpPr>
          <p:cNvPr id="39" name="Text 36"/>
          <p:cNvSpPr/>
          <p:nvPr/>
        </p:nvSpPr>
        <p:spPr>
          <a:xfrm>
            <a:off x="6522430" y="5200427"/>
            <a:ext cx="254878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12" dirty="0"/>
          </a:p>
        </p:txBody>
      </p:sp>
      <p:sp>
        <p:nvSpPr>
          <p:cNvPr id="40" name="Text 37"/>
          <p:cNvSpPr/>
          <p:nvPr/>
        </p:nvSpPr>
        <p:spPr>
          <a:xfrm>
            <a:off x="6796796" y="5200427"/>
            <a:ext cx="594715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(debug=</a:t>
            </a:r>
            <a:endParaRPr lang="en-US" sz="1112" dirty="0"/>
          </a:p>
        </p:txBody>
      </p:sp>
      <p:sp>
        <p:nvSpPr>
          <p:cNvPr id="41" name="Text 38"/>
          <p:cNvSpPr/>
          <p:nvPr/>
        </p:nvSpPr>
        <p:spPr>
          <a:xfrm>
            <a:off x="7436979" y="5200427"/>
            <a:ext cx="339837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12" dirty="0"/>
          </a:p>
        </p:txBody>
      </p:sp>
      <p:sp>
        <p:nvSpPr>
          <p:cNvPr id="42" name="Text 39"/>
          <p:cNvSpPr/>
          <p:nvPr/>
        </p:nvSpPr>
        <p:spPr>
          <a:xfrm>
            <a:off x="7802799" y="5200427"/>
            <a:ext cx="84960" cy="206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112" dirty="0">
                <a:solidFill>
                  <a:srgbClr val="CCD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6668022" cy="524567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 y Registro Seguro</a:t>
            </a:r>
            <a:endParaRPr lang="en-US" sz="324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1764507"/>
            <a:ext cx="285751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1" y="1695451"/>
            <a:ext cx="1507720" cy="241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Registro</a:t>
            </a:r>
            <a:endParaRPr lang="en-US" sz="1453" dirty="0"/>
          </a:p>
        </p:txBody>
      </p:sp>
      <p:sp>
        <p:nvSpPr>
          <p:cNvPr id="6" name="Text 2"/>
          <p:cNvSpPr/>
          <p:nvPr/>
        </p:nvSpPr>
        <p:spPr>
          <a:xfrm>
            <a:off x="1238251" y="2024063"/>
            <a:ext cx="4667251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datos esenciales: username, email, nombre, apellido y contraseña con validación de campos obligatorios.</a:t>
            </a:r>
            <a:endParaRPr lang="en-US" sz="125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02769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1100" y="3033712"/>
            <a:ext cx="1996316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de Contraseñas</a:t>
            </a:r>
            <a:endParaRPr lang="en-US" sz="1453" dirty="0"/>
          </a:p>
        </p:txBody>
      </p:sp>
      <p:sp>
        <p:nvSpPr>
          <p:cNvPr id="9" name="Text 4"/>
          <p:cNvSpPr/>
          <p:nvPr/>
        </p:nvSpPr>
        <p:spPr>
          <a:xfrm>
            <a:off x="1181100" y="3362325"/>
            <a:ext cx="4724400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hashing mediante el algoritmo </a:t>
            </a:r>
            <a:r>
              <a:rPr lang="en-US" sz="1180" b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</a:t>
            </a: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Nunca se almacenan contraseñas en texto plano.</a:t>
            </a:r>
            <a:endParaRPr lang="en-US" sz="1256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183856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1101" y="4114800"/>
            <a:ext cx="1870897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Integridad</a:t>
            </a:r>
            <a:endParaRPr lang="en-US" sz="1453" dirty="0"/>
          </a:p>
        </p:txBody>
      </p:sp>
      <p:sp>
        <p:nvSpPr>
          <p:cNvPr id="12" name="Text 6"/>
          <p:cNvSpPr/>
          <p:nvPr/>
        </p:nvSpPr>
        <p:spPr>
          <a:xfrm>
            <a:off x="1181100" y="4443413"/>
            <a:ext cx="4724400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automática de usuarios duplicados en la base de datos antes de confirmar la inserción.</a:t>
            </a:r>
            <a:endParaRPr lang="en-US" sz="1256" dirty="0"/>
          </a:p>
        </p:txBody>
      </p:sp>
      <p:sp>
        <p:nvSpPr>
          <p:cNvPr id="13" name="Shape 7"/>
          <p:cNvSpPr/>
          <p:nvPr/>
        </p:nvSpPr>
        <p:spPr>
          <a:xfrm>
            <a:off x="6286501" y="1695451"/>
            <a:ext cx="5143500" cy="3290888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sp>
        <p:nvSpPr>
          <p:cNvPr id="14" name="Text 8"/>
          <p:cNvSpPr/>
          <p:nvPr/>
        </p:nvSpPr>
        <p:spPr>
          <a:xfrm>
            <a:off x="6572251" y="1981201"/>
            <a:ext cx="4572000" cy="266077"/>
          </a:xfrm>
          <a:prstGeom prst="rect">
            <a:avLst/>
          </a:prstGeom>
          <a:noFill/>
          <a:ln/>
        </p:spPr>
        <p:txBody>
          <a:bodyPr wrap="square" lIns="0" tIns="0" rIns="0" bIns="11345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69" kern="0" spc="1" dirty="0">
                <a:solidFill>
                  <a:srgbClr val="64FF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MODELS/USER_MODEL.PY</a:t>
            </a:r>
            <a:endParaRPr lang="en-US" sz="969" dirty="0"/>
          </a:p>
        </p:txBody>
      </p:sp>
      <p:sp>
        <p:nvSpPr>
          <p:cNvPr id="15" name="Text 9"/>
          <p:cNvSpPr/>
          <p:nvPr/>
        </p:nvSpPr>
        <p:spPr>
          <a:xfrm>
            <a:off x="6572251" y="2402682"/>
            <a:ext cx="4572000" cy="2106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C79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</a:t>
            </a:r>
            <a:r>
              <a:rPr lang="en-US" sz="1112" dirty="0">
                <a:solidFill>
                  <a:srgbClr val="D1D1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hashlib
</a:t>
            </a:r>
            <a:r>
              <a:rPr lang="en-US" sz="1112" dirty="0">
                <a:solidFill>
                  <a:srgbClr val="C79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</a:t>
            </a:r>
            <a:r>
              <a:rPr lang="en-US" sz="1112" dirty="0">
                <a:solidFill>
                  <a:srgbClr val="D1D1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r>
              <a:rPr lang="en-US" sz="1112" dirty="0">
                <a:solidFill>
                  <a:srgbClr val="82AA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hash_password</a:t>
            </a:r>
            <a:r>
              <a:rPr lang="en-US" sz="1112" dirty="0">
                <a:solidFill>
                  <a:srgbClr val="D1D1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(password):
    </a:t>
            </a:r>
            <a:r>
              <a:rPr lang="en-US" sz="1112" i="1" dirty="0">
                <a:solidFill>
                  <a:srgbClr val="546E7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Encripta la contraseña usando SHA-256</a:t>
            </a:r>
            <a:endParaRPr lang="en-US" sz="1112" dirty="0"/>
          </a:p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D1D1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</a:t>
            </a:r>
            <a:endParaRPr lang="en-US" sz="1112" dirty="0"/>
          </a:p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C79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</a:t>
            </a:r>
            <a:r>
              <a:rPr lang="en-US" sz="1112" dirty="0">
                <a:solidFill>
                  <a:srgbClr val="D1D1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hashlib.sha256(
        password.encode()
    ).hexdigest()
</a:t>
            </a:r>
            <a:r>
              <a:rPr lang="en-US" sz="1112" i="1" dirty="0">
                <a:solidFill>
                  <a:srgbClr val="546E7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Ejemplo de uso en registro:</a:t>
            </a:r>
            <a:r>
              <a:rPr lang="en-US" sz="1112" dirty="0">
                <a:solidFill>
                  <a:srgbClr val="D1D1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1112" i="1" dirty="0">
                <a:solidFill>
                  <a:srgbClr val="546E7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hashed = hash_password(raw_pwd)</a:t>
            </a:r>
            <a:endParaRPr lang="en-US" sz="111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6507914" cy="524567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Manejo de Sesiones de Usuario</a:t>
            </a:r>
            <a:endParaRPr lang="en-US" sz="324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764507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1101" y="1695451"/>
            <a:ext cx="1832233" cy="241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de Sesión</a:t>
            </a:r>
            <a:endParaRPr lang="en-US" sz="1453" dirty="0"/>
          </a:p>
        </p:txBody>
      </p:sp>
      <p:sp>
        <p:nvSpPr>
          <p:cNvPr id="6" name="Text 2"/>
          <p:cNvSpPr/>
          <p:nvPr/>
        </p:nvSpPr>
        <p:spPr>
          <a:xfrm>
            <a:off x="1181101" y="2024064"/>
            <a:ext cx="4213511" cy="49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del objeto </a:t>
            </a:r>
            <a:r>
              <a:rPr lang="en-US" sz="1180" b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</a:t>
            </a: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Flask, firmado criptográficamente para evitar manipulaciones.</a:t>
            </a:r>
            <a:endParaRPr lang="en-US" sz="125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1" y="2845593"/>
            <a:ext cx="257175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09675" y="2776538"/>
            <a:ext cx="1790234" cy="241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Almacenados</a:t>
            </a:r>
            <a:endParaRPr lang="en-US" sz="1453" dirty="0"/>
          </a:p>
        </p:txBody>
      </p:sp>
      <p:sp>
        <p:nvSpPr>
          <p:cNvPr id="9" name="Text 4"/>
          <p:cNvSpPr/>
          <p:nvPr/>
        </p:nvSpPr>
        <p:spPr>
          <a:xfrm>
            <a:off x="1209675" y="3105152"/>
            <a:ext cx="4184935" cy="49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guarda el </a:t>
            </a:r>
            <a:r>
              <a:rPr lang="en-US" sz="1180" b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</a:t>
            </a: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80" b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username</a:t>
            </a: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nombre y apellido para personalizar la experiencia.</a:t>
            </a:r>
            <a:endParaRPr lang="en-US" sz="1256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926681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1101" y="3857626"/>
            <a:ext cx="1443793" cy="241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 de Sesión</a:t>
            </a:r>
            <a:endParaRPr lang="en-US" sz="1453" dirty="0"/>
          </a:p>
        </p:txBody>
      </p:sp>
      <p:sp>
        <p:nvSpPr>
          <p:cNvPr id="12" name="Text 6"/>
          <p:cNvSpPr/>
          <p:nvPr/>
        </p:nvSpPr>
        <p:spPr>
          <a:xfrm>
            <a:off x="1181101" y="4186238"/>
            <a:ext cx="4213511" cy="49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Eliminación segura de credenciales temporales mediante </a:t>
            </a:r>
            <a:r>
              <a:rPr lang="en-US" sz="1180" b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session.clear()</a:t>
            </a: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6" dirty="0"/>
          </a:p>
        </p:txBody>
      </p:sp>
      <p:sp>
        <p:nvSpPr>
          <p:cNvPr id="13" name="Shape 7"/>
          <p:cNvSpPr/>
          <p:nvPr/>
        </p:nvSpPr>
        <p:spPr>
          <a:xfrm>
            <a:off x="5870861" y="1695452"/>
            <a:ext cx="5559140" cy="3005137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sp>
        <p:nvSpPr>
          <p:cNvPr id="14" name="Text 8"/>
          <p:cNvSpPr/>
          <p:nvPr/>
        </p:nvSpPr>
        <p:spPr>
          <a:xfrm>
            <a:off x="6156611" y="2002631"/>
            <a:ext cx="2404504" cy="23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Guardar datos en sesión</a:t>
            </a:r>
            <a:endParaRPr lang="en-US" sz="1256" dirty="0"/>
          </a:p>
        </p:txBody>
      </p:sp>
      <p:sp>
        <p:nvSpPr>
          <p:cNvPr id="15" name="Text 9"/>
          <p:cNvSpPr/>
          <p:nvPr/>
        </p:nvSpPr>
        <p:spPr>
          <a:xfrm>
            <a:off x="6156611" y="2221223"/>
            <a:ext cx="2693045" cy="23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6" dirty="0">
                <a:solidFill>
                  <a:srgbClr val="EC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'user_id'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user[</a:t>
            </a:r>
            <a:r>
              <a:rPr lang="en-US" sz="1256" dirty="0">
                <a:solidFill>
                  <a:srgbClr val="EC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6" dirty="0"/>
          </a:p>
        </p:txBody>
      </p:sp>
      <p:sp>
        <p:nvSpPr>
          <p:cNvPr id="16" name="Text 10"/>
          <p:cNvSpPr/>
          <p:nvPr/>
        </p:nvSpPr>
        <p:spPr>
          <a:xfrm>
            <a:off x="6156611" y="2461246"/>
            <a:ext cx="2885405" cy="23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6" dirty="0">
                <a:solidFill>
                  <a:srgbClr val="EC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'username'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username</a:t>
            </a:r>
            <a:endParaRPr lang="en-US" sz="1256" dirty="0"/>
          </a:p>
        </p:txBody>
      </p:sp>
      <p:sp>
        <p:nvSpPr>
          <p:cNvPr id="17" name="Text 11"/>
          <p:cNvSpPr/>
          <p:nvPr/>
        </p:nvSpPr>
        <p:spPr>
          <a:xfrm>
            <a:off x="6156611" y="2722699"/>
            <a:ext cx="2404504" cy="23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Limpiar sesión al salir</a:t>
            </a:r>
            <a:endParaRPr lang="en-US" sz="1256" dirty="0"/>
          </a:p>
        </p:txBody>
      </p:sp>
      <p:sp>
        <p:nvSpPr>
          <p:cNvPr id="18" name="Text 12"/>
          <p:cNvSpPr/>
          <p:nvPr/>
        </p:nvSpPr>
        <p:spPr>
          <a:xfrm>
            <a:off x="6156611" y="2941291"/>
            <a:ext cx="1731243" cy="23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6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logout_user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256" dirty="0"/>
          </a:p>
        </p:txBody>
      </p:sp>
      <p:sp>
        <p:nvSpPr>
          <p:cNvPr id="19" name="Text 13"/>
          <p:cNvSpPr/>
          <p:nvPr/>
        </p:nvSpPr>
        <p:spPr>
          <a:xfrm>
            <a:off x="6156611" y="3181314"/>
            <a:ext cx="1442703" cy="23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256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r>
              <a:rPr lang="en-US" sz="1256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.clear()</a:t>
            </a:r>
            <a:endParaRPr lang="en-US" sz="125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6719767" cy="524567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y Protección de Rutas</a:t>
            </a:r>
            <a:endParaRPr lang="en-US" sz="324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1769270"/>
            <a:ext cx="266700" cy="266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19201" y="1695451"/>
            <a:ext cx="2620141" cy="256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Credenciales</a:t>
            </a:r>
            <a:endParaRPr lang="en-US" sz="1591" dirty="0"/>
          </a:p>
        </p:txBody>
      </p:sp>
      <p:sp>
        <p:nvSpPr>
          <p:cNvPr id="6" name="Text 2"/>
          <p:cNvSpPr/>
          <p:nvPr/>
        </p:nvSpPr>
        <p:spPr>
          <a:xfrm>
            <a:off x="1219200" y="2066926"/>
            <a:ext cx="4175411" cy="49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 segura de hashes SHA-256 durante el proceso de inicio de sesión.</a:t>
            </a:r>
            <a:endParaRPr lang="en-US" sz="125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1" y="2988470"/>
            <a:ext cx="333375" cy="266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5875" y="2914651"/>
            <a:ext cx="1784527" cy="256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Acceso</a:t>
            </a:r>
            <a:endParaRPr lang="en-US" sz="1591" dirty="0"/>
          </a:p>
        </p:txBody>
      </p:sp>
      <p:sp>
        <p:nvSpPr>
          <p:cNvPr id="9" name="Text 4"/>
          <p:cNvSpPr/>
          <p:nvPr/>
        </p:nvSpPr>
        <p:spPr>
          <a:xfrm>
            <a:off x="1285875" y="3286125"/>
            <a:ext cx="4108735" cy="49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de la existencia de </a:t>
            </a:r>
            <a:r>
              <a:rPr lang="en-US" sz="1180" b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</a:t>
            </a: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el objeto de sesión antes de renderizar vistas protegidas.</a:t>
            </a:r>
            <a:endParaRPr lang="en-US" sz="1256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4207670"/>
            <a:ext cx="266700" cy="266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19201" y="4133851"/>
            <a:ext cx="2342757" cy="256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Redirección Automática</a:t>
            </a:r>
            <a:endParaRPr lang="en-US" sz="1591" dirty="0"/>
          </a:p>
        </p:txBody>
      </p:sp>
      <p:sp>
        <p:nvSpPr>
          <p:cNvPr id="12" name="Text 6"/>
          <p:cNvSpPr/>
          <p:nvPr/>
        </p:nvSpPr>
        <p:spPr>
          <a:xfrm>
            <a:off x="1219200" y="4505325"/>
            <a:ext cx="4175411" cy="49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 automático al login con mensajes flash informativos para intentos de acceso no autorizados.</a:t>
            </a:r>
            <a:endParaRPr lang="en-US" sz="1256" dirty="0"/>
          </a:p>
        </p:txBody>
      </p:sp>
      <p:sp>
        <p:nvSpPr>
          <p:cNvPr id="13" name="Shape 7"/>
          <p:cNvSpPr/>
          <p:nvPr/>
        </p:nvSpPr>
        <p:spPr>
          <a:xfrm>
            <a:off x="5870861" y="1695451"/>
            <a:ext cx="5559140" cy="3581400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sp>
        <p:nvSpPr>
          <p:cNvPr id="14" name="Text 8"/>
          <p:cNvSpPr/>
          <p:nvPr/>
        </p:nvSpPr>
        <p:spPr>
          <a:xfrm>
            <a:off x="6156611" y="1981200"/>
            <a:ext cx="2981585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Protección de rutas en app.py</a:t>
            </a:r>
            <a:endParaRPr lang="en-US" sz="1256" dirty="0"/>
          </a:p>
        </p:txBody>
      </p:sp>
      <p:sp>
        <p:nvSpPr>
          <p:cNvPr id="15" name="Text 9"/>
          <p:cNvSpPr/>
          <p:nvPr/>
        </p:nvSpPr>
        <p:spPr>
          <a:xfrm>
            <a:off x="6156611" y="2279303"/>
            <a:ext cx="192360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</a:t>
            </a:r>
            <a:endParaRPr lang="en-US" sz="1256" dirty="0"/>
          </a:p>
        </p:txBody>
      </p:sp>
      <p:sp>
        <p:nvSpPr>
          <p:cNvPr id="16" name="Text 10"/>
          <p:cNvSpPr/>
          <p:nvPr/>
        </p:nvSpPr>
        <p:spPr>
          <a:xfrm>
            <a:off x="6463792" y="2279303"/>
            <a:ext cx="865622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'user_id'</a:t>
            </a:r>
            <a:endParaRPr lang="en-US" sz="1256" dirty="0"/>
          </a:p>
        </p:txBody>
      </p:sp>
      <p:sp>
        <p:nvSpPr>
          <p:cNvPr id="17" name="Text 11"/>
          <p:cNvSpPr/>
          <p:nvPr/>
        </p:nvSpPr>
        <p:spPr>
          <a:xfrm>
            <a:off x="7487730" y="2279303"/>
            <a:ext cx="577081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not in</a:t>
            </a:r>
            <a:endParaRPr lang="en-US" sz="1256" dirty="0"/>
          </a:p>
        </p:txBody>
      </p:sp>
      <p:sp>
        <p:nvSpPr>
          <p:cNvPr id="18" name="Text 12"/>
          <p:cNvSpPr/>
          <p:nvPr/>
        </p:nvSpPr>
        <p:spPr>
          <a:xfrm>
            <a:off x="8102093" y="2279303"/>
            <a:ext cx="769441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session:</a:t>
            </a:r>
            <a:endParaRPr lang="en-US" sz="1256" dirty="0"/>
          </a:p>
        </p:txBody>
      </p:sp>
      <p:sp>
        <p:nvSpPr>
          <p:cNvPr id="19" name="Text 13"/>
          <p:cNvSpPr/>
          <p:nvPr/>
        </p:nvSpPr>
        <p:spPr>
          <a:xfrm>
            <a:off x="6156612" y="2553594"/>
            <a:ext cx="577081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flash(</a:t>
            </a:r>
            <a:endParaRPr lang="en-US" sz="1256" dirty="0"/>
          </a:p>
        </p:txBody>
      </p:sp>
      <p:sp>
        <p:nvSpPr>
          <p:cNvPr id="20" name="Text 14"/>
          <p:cNvSpPr/>
          <p:nvPr/>
        </p:nvSpPr>
        <p:spPr>
          <a:xfrm>
            <a:off x="6770974" y="2553594"/>
            <a:ext cx="2885405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'Debes iniciar sesión primero'</a:t>
            </a:r>
            <a:endParaRPr lang="en-US" sz="1256" dirty="0"/>
          </a:p>
        </p:txBody>
      </p:sp>
      <p:sp>
        <p:nvSpPr>
          <p:cNvPr id="21" name="Text 15"/>
          <p:cNvSpPr/>
          <p:nvPr/>
        </p:nvSpPr>
        <p:spPr>
          <a:xfrm>
            <a:off x="9842785" y="2553594"/>
            <a:ext cx="96180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1256" dirty="0"/>
          </a:p>
        </p:txBody>
      </p:sp>
      <p:sp>
        <p:nvSpPr>
          <p:cNvPr id="22" name="Text 16"/>
          <p:cNvSpPr/>
          <p:nvPr/>
        </p:nvSpPr>
        <p:spPr>
          <a:xfrm>
            <a:off x="6156612" y="2827883"/>
            <a:ext cx="577081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endParaRPr lang="en-US" sz="1256" dirty="0"/>
          </a:p>
        </p:txBody>
      </p:sp>
      <p:sp>
        <p:nvSpPr>
          <p:cNvPr id="23" name="Text 17"/>
          <p:cNvSpPr/>
          <p:nvPr/>
        </p:nvSpPr>
        <p:spPr>
          <a:xfrm>
            <a:off x="6770974" y="2827883"/>
            <a:ext cx="1635063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redirect(url_for(</a:t>
            </a:r>
            <a:endParaRPr lang="en-US" sz="1256" dirty="0"/>
          </a:p>
        </p:txBody>
      </p:sp>
      <p:sp>
        <p:nvSpPr>
          <p:cNvPr id="24" name="Text 18"/>
          <p:cNvSpPr/>
          <p:nvPr/>
        </p:nvSpPr>
        <p:spPr>
          <a:xfrm>
            <a:off x="8614061" y="2827883"/>
            <a:ext cx="673261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'login'</a:t>
            </a:r>
            <a:endParaRPr lang="en-US" sz="1256" dirty="0"/>
          </a:p>
        </p:txBody>
      </p:sp>
      <p:sp>
        <p:nvSpPr>
          <p:cNvPr id="25" name="Text 19"/>
          <p:cNvSpPr/>
          <p:nvPr/>
        </p:nvSpPr>
        <p:spPr>
          <a:xfrm>
            <a:off x="9330816" y="2827883"/>
            <a:ext cx="192360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))</a:t>
            </a:r>
            <a:endParaRPr lang="en-US" sz="1256" dirty="0"/>
          </a:p>
        </p:txBody>
      </p:sp>
      <p:sp>
        <p:nvSpPr>
          <p:cNvPr id="26" name="Text 20"/>
          <p:cNvSpPr/>
          <p:nvPr/>
        </p:nvSpPr>
        <p:spPr>
          <a:xfrm>
            <a:off x="6156611" y="3352651"/>
            <a:ext cx="3173946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Uso de Secret Key para sesiones</a:t>
            </a:r>
            <a:endParaRPr lang="en-US" sz="1256" dirty="0"/>
          </a:p>
        </p:txBody>
      </p:sp>
      <p:sp>
        <p:nvSpPr>
          <p:cNvPr id="27" name="Text 21"/>
          <p:cNvSpPr/>
          <p:nvPr/>
        </p:nvSpPr>
        <p:spPr>
          <a:xfrm>
            <a:off x="6156611" y="3650754"/>
            <a:ext cx="1538883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app.secret_key =</a:t>
            </a:r>
            <a:endParaRPr lang="en-US" sz="1256" dirty="0"/>
          </a:p>
        </p:txBody>
      </p:sp>
      <p:sp>
        <p:nvSpPr>
          <p:cNvPr id="28" name="Text 22"/>
          <p:cNvSpPr/>
          <p:nvPr/>
        </p:nvSpPr>
        <p:spPr>
          <a:xfrm>
            <a:off x="7897305" y="3650754"/>
            <a:ext cx="2500685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256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'super_secret_key_progra4'</a:t>
            </a:r>
            <a:endParaRPr lang="en-US" sz="125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3867640" cy="527709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Datos SQLite</a:t>
            </a:r>
            <a:endParaRPr lang="en-US" sz="3248" dirty="0"/>
          </a:p>
        </p:txBody>
      </p:sp>
      <p:sp>
        <p:nvSpPr>
          <p:cNvPr id="4" name="Shape 1"/>
          <p:cNvSpPr/>
          <p:nvPr/>
        </p:nvSpPr>
        <p:spPr>
          <a:xfrm>
            <a:off x="762001" y="1695452"/>
            <a:ext cx="5143500" cy="4529137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2" y="2005012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90651" y="1981201"/>
            <a:ext cx="985847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usuarios.db</a:t>
            </a:r>
            <a:endParaRPr lang="en-US" sz="1591" dirty="0"/>
          </a:p>
        </p:txBody>
      </p:sp>
      <p:sp>
        <p:nvSpPr>
          <p:cNvPr id="7" name="Text 3"/>
          <p:cNvSpPr/>
          <p:nvPr/>
        </p:nvSpPr>
        <p:spPr>
          <a:xfrm>
            <a:off x="1047751" y="2435412"/>
            <a:ext cx="1880332" cy="470322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600"/>
              </a:lnSpc>
            </a:pPr>
            <a:r>
              <a:rPr lang="en-US" sz="118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</a:t>
            </a:r>
            <a:endParaRPr lang="en-US" sz="1180" dirty="0"/>
          </a:p>
        </p:txBody>
      </p:sp>
      <p:sp>
        <p:nvSpPr>
          <p:cNvPr id="8" name="Text 4"/>
          <p:cNvSpPr/>
          <p:nvPr/>
        </p:nvSpPr>
        <p:spPr>
          <a:xfrm>
            <a:off x="2928082" y="2435412"/>
            <a:ext cx="2691668" cy="470322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600"/>
              </a:lnSpc>
            </a:pPr>
            <a:r>
              <a:rPr lang="en-US" sz="118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</a:t>
            </a:r>
            <a:endParaRPr lang="en-US" sz="1180" dirty="0"/>
          </a:p>
        </p:txBody>
      </p:sp>
      <p:sp>
        <p:nvSpPr>
          <p:cNvPr id="9" name="Text 5"/>
          <p:cNvSpPr/>
          <p:nvPr/>
        </p:nvSpPr>
        <p:spPr>
          <a:xfrm>
            <a:off x="1047751" y="2878361"/>
            <a:ext cx="1880332" cy="455959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045" dirty="0"/>
          </a:p>
        </p:txBody>
      </p:sp>
      <p:sp>
        <p:nvSpPr>
          <p:cNvPr id="10" name="Text 6"/>
          <p:cNvSpPr/>
          <p:nvPr/>
        </p:nvSpPr>
        <p:spPr>
          <a:xfrm>
            <a:off x="2928082" y="2877208"/>
            <a:ext cx="2691668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 (PK)</a:t>
            </a:r>
            <a:endParaRPr lang="en-US" sz="1112" dirty="0"/>
          </a:p>
        </p:txBody>
      </p:sp>
      <p:sp>
        <p:nvSpPr>
          <p:cNvPr id="11" name="Text 7"/>
          <p:cNvSpPr/>
          <p:nvPr/>
        </p:nvSpPr>
        <p:spPr>
          <a:xfrm>
            <a:off x="1047751" y="3301071"/>
            <a:ext cx="1880332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username</a:t>
            </a:r>
            <a:endParaRPr lang="en-US" sz="1112" dirty="0"/>
          </a:p>
        </p:txBody>
      </p:sp>
      <p:sp>
        <p:nvSpPr>
          <p:cNvPr id="12" name="Text 8"/>
          <p:cNvSpPr/>
          <p:nvPr/>
        </p:nvSpPr>
        <p:spPr>
          <a:xfrm>
            <a:off x="2928082" y="3301071"/>
            <a:ext cx="2691668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(UNIQUE)</a:t>
            </a:r>
            <a:endParaRPr lang="en-US" sz="1112" dirty="0"/>
          </a:p>
        </p:txBody>
      </p:sp>
      <p:sp>
        <p:nvSpPr>
          <p:cNvPr id="13" name="Text 9"/>
          <p:cNvSpPr/>
          <p:nvPr/>
        </p:nvSpPr>
        <p:spPr>
          <a:xfrm>
            <a:off x="1047751" y="3722552"/>
            <a:ext cx="1880332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</a:t>
            </a:r>
            <a:endParaRPr lang="en-US" sz="1112" dirty="0"/>
          </a:p>
        </p:txBody>
      </p:sp>
      <p:sp>
        <p:nvSpPr>
          <p:cNvPr id="14" name="Text 10"/>
          <p:cNvSpPr/>
          <p:nvPr/>
        </p:nvSpPr>
        <p:spPr>
          <a:xfrm>
            <a:off x="2928082" y="3722552"/>
            <a:ext cx="2691668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(HASH)</a:t>
            </a:r>
            <a:endParaRPr lang="en-US" sz="1112" dirty="0"/>
          </a:p>
        </p:txBody>
      </p:sp>
      <p:sp>
        <p:nvSpPr>
          <p:cNvPr id="15" name="Text 11"/>
          <p:cNvSpPr/>
          <p:nvPr/>
        </p:nvSpPr>
        <p:spPr>
          <a:xfrm>
            <a:off x="1047751" y="4144033"/>
            <a:ext cx="1880332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112" dirty="0"/>
          </a:p>
        </p:txBody>
      </p:sp>
      <p:sp>
        <p:nvSpPr>
          <p:cNvPr id="16" name="Text 12"/>
          <p:cNvSpPr/>
          <p:nvPr/>
        </p:nvSpPr>
        <p:spPr>
          <a:xfrm>
            <a:off x="2928082" y="4144033"/>
            <a:ext cx="2691668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12" dirty="0"/>
          </a:p>
        </p:txBody>
      </p:sp>
      <p:sp>
        <p:nvSpPr>
          <p:cNvPr id="17" name="Text 13"/>
          <p:cNvSpPr/>
          <p:nvPr/>
        </p:nvSpPr>
        <p:spPr>
          <a:xfrm>
            <a:off x="1047751" y="4588670"/>
            <a:ext cx="4572000" cy="378416"/>
          </a:xfrm>
          <a:prstGeom prst="rect">
            <a:avLst/>
          </a:prstGeom>
          <a:noFill/>
          <a:ln/>
        </p:spPr>
        <p:txBody>
          <a:bodyPr wrap="square" lIns="0" tIns="226737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69" i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Almacena credenciales de acceso seguras.</a:t>
            </a:r>
            <a:endParaRPr lang="en-US" sz="969" dirty="0"/>
          </a:p>
        </p:txBody>
      </p:sp>
      <p:sp>
        <p:nvSpPr>
          <p:cNvPr id="18" name="Shape 14"/>
          <p:cNvSpPr/>
          <p:nvPr/>
        </p:nvSpPr>
        <p:spPr>
          <a:xfrm>
            <a:off x="6286501" y="1695452"/>
            <a:ext cx="5143500" cy="4529137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1" y="200501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3726" y="1981201"/>
            <a:ext cx="1253677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formularios.db</a:t>
            </a:r>
            <a:endParaRPr lang="en-US" sz="1591" dirty="0"/>
          </a:p>
        </p:txBody>
      </p:sp>
      <p:sp>
        <p:nvSpPr>
          <p:cNvPr id="21" name="Text 16"/>
          <p:cNvSpPr/>
          <p:nvPr/>
        </p:nvSpPr>
        <p:spPr>
          <a:xfrm>
            <a:off x="6572251" y="2435412"/>
            <a:ext cx="2035299" cy="470322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600"/>
              </a:lnSpc>
            </a:pPr>
            <a:r>
              <a:rPr lang="en-US" sz="118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</a:t>
            </a:r>
            <a:endParaRPr lang="en-US" sz="1180" dirty="0"/>
          </a:p>
        </p:txBody>
      </p:sp>
      <p:sp>
        <p:nvSpPr>
          <p:cNvPr id="22" name="Text 17"/>
          <p:cNvSpPr/>
          <p:nvPr/>
        </p:nvSpPr>
        <p:spPr>
          <a:xfrm>
            <a:off x="8607550" y="2435412"/>
            <a:ext cx="2536701" cy="470322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600"/>
              </a:lnSpc>
            </a:pPr>
            <a:r>
              <a:rPr lang="en-US" sz="118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</a:t>
            </a:r>
            <a:endParaRPr lang="en-US" sz="1180" dirty="0"/>
          </a:p>
        </p:txBody>
      </p:sp>
      <p:sp>
        <p:nvSpPr>
          <p:cNvPr id="23" name="Text 18"/>
          <p:cNvSpPr/>
          <p:nvPr/>
        </p:nvSpPr>
        <p:spPr>
          <a:xfrm>
            <a:off x="6572251" y="2878361"/>
            <a:ext cx="2035299" cy="455959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045" dirty="0"/>
          </a:p>
        </p:txBody>
      </p:sp>
      <p:sp>
        <p:nvSpPr>
          <p:cNvPr id="24" name="Text 19"/>
          <p:cNvSpPr/>
          <p:nvPr/>
        </p:nvSpPr>
        <p:spPr>
          <a:xfrm>
            <a:off x="8607550" y="2877208"/>
            <a:ext cx="2536701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 (PK)</a:t>
            </a:r>
            <a:endParaRPr lang="en-US" sz="1112" dirty="0"/>
          </a:p>
        </p:txBody>
      </p:sp>
      <p:sp>
        <p:nvSpPr>
          <p:cNvPr id="25" name="Text 20"/>
          <p:cNvSpPr/>
          <p:nvPr/>
        </p:nvSpPr>
        <p:spPr>
          <a:xfrm>
            <a:off x="6572251" y="3301071"/>
            <a:ext cx="2035299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C79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usuario_id</a:t>
            </a:r>
            <a:endParaRPr lang="en-US" sz="1112" dirty="0"/>
          </a:p>
        </p:txBody>
      </p:sp>
      <p:sp>
        <p:nvSpPr>
          <p:cNvPr id="26" name="Text 21"/>
          <p:cNvSpPr/>
          <p:nvPr/>
        </p:nvSpPr>
        <p:spPr>
          <a:xfrm>
            <a:off x="8607550" y="3301071"/>
            <a:ext cx="2536701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 (FK)</a:t>
            </a:r>
            <a:endParaRPr lang="en-US" sz="1112" dirty="0"/>
          </a:p>
        </p:txBody>
      </p:sp>
      <p:sp>
        <p:nvSpPr>
          <p:cNvPr id="27" name="Text 22"/>
          <p:cNvSpPr/>
          <p:nvPr/>
        </p:nvSpPr>
        <p:spPr>
          <a:xfrm>
            <a:off x="6572251" y="3722552"/>
            <a:ext cx="2035299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</a:t>
            </a:r>
            <a:endParaRPr lang="en-US" sz="1112" dirty="0"/>
          </a:p>
        </p:txBody>
      </p:sp>
      <p:sp>
        <p:nvSpPr>
          <p:cNvPr id="28" name="Text 23"/>
          <p:cNvSpPr/>
          <p:nvPr/>
        </p:nvSpPr>
        <p:spPr>
          <a:xfrm>
            <a:off x="8607550" y="3722552"/>
            <a:ext cx="2536701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12" dirty="0"/>
          </a:p>
        </p:txBody>
      </p:sp>
      <p:sp>
        <p:nvSpPr>
          <p:cNvPr id="29" name="Text 24"/>
          <p:cNvSpPr/>
          <p:nvPr/>
        </p:nvSpPr>
        <p:spPr>
          <a:xfrm>
            <a:off x="6572251" y="4144033"/>
            <a:ext cx="2035299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apellido</a:t>
            </a:r>
            <a:endParaRPr lang="en-US" sz="1112" dirty="0"/>
          </a:p>
        </p:txBody>
      </p:sp>
      <p:sp>
        <p:nvSpPr>
          <p:cNvPr id="30" name="Text 25"/>
          <p:cNvSpPr/>
          <p:nvPr/>
        </p:nvSpPr>
        <p:spPr>
          <a:xfrm>
            <a:off x="8607550" y="4144033"/>
            <a:ext cx="2536701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12" dirty="0"/>
          </a:p>
        </p:txBody>
      </p:sp>
      <p:sp>
        <p:nvSpPr>
          <p:cNvPr id="31" name="Text 26"/>
          <p:cNvSpPr/>
          <p:nvPr/>
        </p:nvSpPr>
        <p:spPr>
          <a:xfrm>
            <a:off x="6572251" y="4565515"/>
            <a:ext cx="2035299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telefono</a:t>
            </a:r>
            <a:endParaRPr lang="en-US" sz="1112" dirty="0"/>
          </a:p>
        </p:txBody>
      </p:sp>
      <p:sp>
        <p:nvSpPr>
          <p:cNvPr id="32" name="Text 27"/>
          <p:cNvSpPr/>
          <p:nvPr/>
        </p:nvSpPr>
        <p:spPr>
          <a:xfrm>
            <a:off x="8607550" y="4565515"/>
            <a:ext cx="2536701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12" dirty="0"/>
          </a:p>
        </p:txBody>
      </p:sp>
      <p:sp>
        <p:nvSpPr>
          <p:cNvPr id="33" name="Text 28"/>
          <p:cNvSpPr/>
          <p:nvPr/>
        </p:nvSpPr>
        <p:spPr>
          <a:xfrm>
            <a:off x="6572251" y="4986996"/>
            <a:ext cx="2035299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direccion</a:t>
            </a:r>
            <a:endParaRPr lang="en-US" sz="1112" dirty="0"/>
          </a:p>
        </p:txBody>
      </p:sp>
      <p:sp>
        <p:nvSpPr>
          <p:cNvPr id="34" name="Text 29"/>
          <p:cNvSpPr/>
          <p:nvPr/>
        </p:nvSpPr>
        <p:spPr>
          <a:xfrm>
            <a:off x="8607550" y="4986996"/>
            <a:ext cx="2536701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12" dirty="0"/>
          </a:p>
        </p:txBody>
      </p:sp>
      <p:sp>
        <p:nvSpPr>
          <p:cNvPr id="35" name="Text 30"/>
          <p:cNvSpPr/>
          <p:nvPr/>
        </p:nvSpPr>
        <p:spPr>
          <a:xfrm>
            <a:off x="6572251" y="5408477"/>
            <a:ext cx="2035299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ocupacion</a:t>
            </a:r>
            <a:endParaRPr lang="en-US" sz="1112" dirty="0"/>
          </a:p>
        </p:txBody>
      </p:sp>
      <p:sp>
        <p:nvSpPr>
          <p:cNvPr id="36" name="Text 31"/>
          <p:cNvSpPr/>
          <p:nvPr/>
        </p:nvSpPr>
        <p:spPr>
          <a:xfrm>
            <a:off x="8607550" y="5408477"/>
            <a:ext cx="2536701" cy="458267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pPr>
              <a:lnSpc>
                <a:spcPts val="14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12" dirty="0"/>
          </a:p>
        </p:txBody>
      </p:sp>
      <p:sp>
        <p:nvSpPr>
          <p:cNvPr id="37" name="Text 32"/>
          <p:cNvSpPr/>
          <p:nvPr/>
        </p:nvSpPr>
        <p:spPr>
          <a:xfrm>
            <a:off x="6572251" y="5853112"/>
            <a:ext cx="4572000" cy="378416"/>
          </a:xfrm>
          <a:prstGeom prst="rect">
            <a:avLst/>
          </a:prstGeom>
          <a:noFill/>
          <a:ln/>
        </p:spPr>
        <p:txBody>
          <a:bodyPr wrap="square" lIns="0" tIns="226737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69" i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Vincula datos de clientes con el usuario activo.</a:t>
            </a:r>
            <a:endParaRPr lang="en-US" sz="9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1" y="571501"/>
            <a:ext cx="4717809" cy="527709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Demostración del Sistema</a:t>
            </a:r>
            <a:endParaRPr lang="en-US" sz="3248" dirty="0"/>
          </a:p>
        </p:txBody>
      </p:sp>
      <p:sp>
        <p:nvSpPr>
          <p:cNvPr id="4" name="Shape 1"/>
          <p:cNvSpPr/>
          <p:nvPr/>
        </p:nvSpPr>
        <p:spPr>
          <a:xfrm>
            <a:off x="990601" y="1885951"/>
            <a:ext cx="952500" cy="952500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1" y="2171700"/>
            <a:ext cx="381000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0863" y="3028951"/>
            <a:ext cx="411972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1453" dirty="0"/>
          </a:p>
        </p:txBody>
      </p:sp>
      <p:sp>
        <p:nvSpPr>
          <p:cNvPr id="7" name="Text 3"/>
          <p:cNvSpPr/>
          <p:nvPr/>
        </p:nvSpPr>
        <p:spPr>
          <a:xfrm>
            <a:off x="514351" y="3471863"/>
            <a:ext cx="1905000" cy="42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33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seguro con validación de credenciales.</a:t>
            </a:r>
            <a:endParaRPr lang="en-US" sz="111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00" y="2288381"/>
            <a:ext cx="142875" cy="228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305175" y="1885951"/>
            <a:ext cx="952500" cy="952500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171700"/>
            <a:ext cx="476251" cy="381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66789" y="3028951"/>
            <a:ext cx="629275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</a:t>
            </a:r>
            <a:endParaRPr lang="en-US" sz="1453" dirty="0"/>
          </a:p>
        </p:txBody>
      </p:sp>
      <p:sp>
        <p:nvSpPr>
          <p:cNvPr id="12" name="Text 6"/>
          <p:cNvSpPr/>
          <p:nvPr/>
        </p:nvSpPr>
        <p:spPr>
          <a:xfrm>
            <a:off x="2828925" y="3471863"/>
            <a:ext cx="1905000" cy="42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33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 de cuenta y hashing de password.</a:t>
            </a:r>
            <a:endParaRPr lang="en-US" sz="1112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75" y="2288381"/>
            <a:ext cx="142875" cy="2286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619751" y="1885951"/>
            <a:ext cx="952500" cy="952500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1689" y="2171700"/>
            <a:ext cx="428625" cy="3810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678739" y="3028951"/>
            <a:ext cx="834524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53" dirty="0"/>
          </a:p>
        </p:txBody>
      </p:sp>
      <p:sp>
        <p:nvSpPr>
          <p:cNvPr id="17" name="Text 9"/>
          <p:cNvSpPr/>
          <p:nvPr/>
        </p:nvSpPr>
        <p:spPr>
          <a:xfrm>
            <a:off x="5143500" y="3471863"/>
            <a:ext cx="1905000" cy="20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33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principal con sesión activa.</a:t>
            </a:r>
            <a:endParaRPr lang="en-US" sz="1112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51" y="2288381"/>
            <a:ext cx="142875" cy="2286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7934326" y="1885951"/>
            <a:ext cx="952500" cy="952500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701" y="2171700"/>
            <a:ext cx="285751" cy="3810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986101" y="3028951"/>
            <a:ext cx="848950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</a:t>
            </a:r>
            <a:endParaRPr lang="en-US" sz="1453" dirty="0"/>
          </a:p>
        </p:txBody>
      </p:sp>
      <p:sp>
        <p:nvSpPr>
          <p:cNvPr id="22" name="Text 12"/>
          <p:cNvSpPr/>
          <p:nvPr/>
        </p:nvSpPr>
        <p:spPr>
          <a:xfrm>
            <a:off x="7458075" y="3471863"/>
            <a:ext cx="1905000" cy="42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33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datos de clientes en SQLite.</a:t>
            </a:r>
            <a:endParaRPr lang="en-US" sz="1112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6425" y="2288381"/>
            <a:ext cx="142875" cy="22860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10248901" y="1885951"/>
            <a:ext cx="952500" cy="952500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4651" y="2171700"/>
            <a:ext cx="381000" cy="3810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461551" y="3028951"/>
            <a:ext cx="527196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53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</a:t>
            </a:r>
            <a:endParaRPr lang="en-US" sz="1453" dirty="0"/>
          </a:p>
        </p:txBody>
      </p:sp>
      <p:sp>
        <p:nvSpPr>
          <p:cNvPr id="27" name="Text 15"/>
          <p:cNvSpPr/>
          <p:nvPr/>
        </p:nvSpPr>
        <p:spPr>
          <a:xfrm>
            <a:off x="9772651" y="3471863"/>
            <a:ext cx="1905000" cy="42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33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 de sesión y limpieza de datos.</a:t>
            </a:r>
            <a:endParaRPr lang="en-US" sz="111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1"/>
            <a:ext cx="4882918" cy="527709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Dificultades y Aprendizajes</a:t>
            </a:r>
            <a:endParaRPr lang="en-US" sz="324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1724026"/>
            <a:ext cx="266700" cy="266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1575" y="1695451"/>
            <a:ext cx="1720984" cy="30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863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Desafíos Técnicos</a:t>
            </a:r>
            <a:endParaRPr lang="en-US" sz="1863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359819"/>
            <a:ext cx="150019" cy="17145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54894" y="2352675"/>
            <a:ext cx="2107949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Múltiples Bases de Datos</a:t>
            </a:r>
            <a:endParaRPr lang="en-US" sz="1112" dirty="0"/>
          </a:p>
        </p:txBody>
      </p:sp>
      <p:sp>
        <p:nvSpPr>
          <p:cNvPr id="8" name="Text 3"/>
          <p:cNvSpPr/>
          <p:nvPr/>
        </p:nvSpPr>
        <p:spPr>
          <a:xfrm>
            <a:off x="1054894" y="2628900"/>
            <a:ext cx="3832781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Sincronización de usuarios.db y formularios.db en una sola sesión.</a:t>
            </a:r>
            <a:endParaRPr lang="en-US" sz="1112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3150393"/>
            <a:ext cx="192881" cy="17145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756" y="3143251"/>
            <a:ext cx="1434688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MVC</a:t>
            </a:r>
            <a:endParaRPr lang="en-US" sz="1112" dirty="0"/>
          </a:p>
        </p:txBody>
      </p:sp>
      <p:sp>
        <p:nvSpPr>
          <p:cNvPr id="11" name="Text 5"/>
          <p:cNvSpPr/>
          <p:nvPr/>
        </p:nvSpPr>
        <p:spPr>
          <a:xfrm>
            <a:off x="1097757" y="3419475"/>
            <a:ext cx="3876061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Adaptar la estructura modular en un micro-framework como Flask.</a:t>
            </a:r>
            <a:endParaRPr lang="en-US" sz="1112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940969"/>
            <a:ext cx="171451" cy="17145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76325" y="3933825"/>
            <a:ext cx="1505220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Formularios</a:t>
            </a:r>
            <a:endParaRPr lang="en-US" sz="1112" dirty="0"/>
          </a:p>
        </p:txBody>
      </p:sp>
      <p:sp>
        <p:nvSpPr>
          <p:cNvPr id="14" name="Text 7"/>
          <p:cNvSpPr/>
          <p:nvPr/>
        </p:nvSpPr>
        <p:spPr>
          <a:xfrm>
            <a:off x="1076326" y="4210051"/>
            <a:ext cx="3683701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Manejo de errores en tiempo real y persistencia de datos POST.</a:t>
            </a:r>
            <a:endParaRPr lang="en-US" sz="1112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2" y="1724026"/>
            <a:ext cx="200025" cy="2667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724651" y="1695451"/>
            <a:ext cx="2137316" cy="30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863" b="1" dirty="0" err="1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Lecciones</a:t>
            </a:r>
            <a:r>
              <a:rPr lang="en-US" sz="1863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863" b="1" dirty="0" err="1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Aprendidas</a:t>
            </a:r>
            <a:endParaRPr lang="en-US" sz="1863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2" y="2359819"/>
            <a:ext cx="192881" cy="171451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717507" y="2352675"/>
            <a:ext cx="1796967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Importancia de la Modularidad</a:t>
            </a:r>
            <a:endParaRPr lang="en-US" sz="1112" dirty="0"/>
          </a:p>
        </p:txBody>
      </p:sp>
      <p:sp>
        <p:nvSpPr>
          <p:cNvPr id="19" name="Text 10"/>
          <p:cNvSpPr/>
          <p:nvPr/>
        </p:nvSpPr>
        <p:spPr>
          <a:xfrm>
            <a:off x="6717507" y="2628900"/>
            <a:ext cx="3539430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el mantenimiento y la escalabilidad del código a largo</a:t>
            </a:r>
            <a:endParaRPr lang="en-US" sz="1112" dirty="0"/>
          </a:p>
        </p:txBody>
      </p:sp>
      <p:sp>
        <p:nvSpPr>
          <p:cNvPr id="20" name="Text 11"/>
          <p:cNvSpPr/>
          <p:nvPr/>
        </p:nvSpPr>
        <p:spPr>
          <a:xfrm>
            <a:off x="6717507" y="2905125"/>
            <a:ext cx="343043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plazo.</a:t>
            </a:r>
            <a:endParaRPr lang="en-US" sz="1112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1" y="3426619"/>
            <a:ext cx="171451" cy="17145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696075" y="3419475"/>
            <a:ext cx="1524456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desde el Diseño</a:t>
            </a:r>
            <a:endParaRPr lang="en-US" sz="1112" dirty="0"/>
          </a:p>
        </p:txBody>
      </p:sp>
      <p:sp>
        <p:nvSpPr>
          <p:cNvPr id="23" name="Text 13"/>
          <p:cNvSpPr/>
          <p:nvPr/>
        </p:nvSpPr>
        <p:spPr>
          <a:xfrm>
            <a:off x="6696076" y="3695700"/>
            <a:ext cx="2917465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hashing y protección de rutas como pilares</a:t>
            </a:r>
            <a:endParaRPr lang="en-US" sz="1112" dirty="0"/>
          </a:p>
        </p:txBody>
      </p:sp>
      <p:sp>
        <p:nvSpPr>
          <p:cNvPr id="24" name="Text 14"/>
          <p:cNvSpPr/>
          <p:nvPr/>
        </p:nvSpPr>
        <p:spPr>
          <a:xfrm>
            <a:off x="6696075" y="3971925"/>
            <a:ext cx="908903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fundamentales.</a:t>
            </a:r>
            <a:endParaRPr lang="en-US" sz="1112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1" y="4493419"/>
            <a:ext cx="171451" cy="171451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696075" y="4486275"/>
            <a:ext cx="1578958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Manejo Avanzado de Rutas</a:t>
            </a:r>
            <a:endParaRPr lang="en-US" sz="1112" dirty="0"/>
          </a:p>
        </p:txBody>
      </p:sp>
      <p:sp>
        <p:nvSpPr>
          <p:cNvPr id="27" name="Text 16"/>
          <p:cNvSpPr/>
          <p:nvPr/>
        </p:nvSpPr>
        <p:spPr>
          <a:xfrm>
            <a:off x="6696075" y="4762500"/>
            <a:ext cx="3348674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Dominio de métodos HTTP y gestión de estados mediante</a:t>
            </a:r>
            <a:endParaRPr lang="en-US" sz="1112" dirty="0"/>
          </a:p>
        </p:txBody>
      </p:sp>
      <p:sp>
        <p:nvSpPr>
          <p:cNvPr id="28" name="Text 17"/>
          <p:cNvSpPr/>
          <p:nvPr/>
        </p:nvSpPr>
        <p:spPr>
          <a:xfrm>
            <a:off x="6696075" y="5038725"/>
            <a:ext cx="527388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sesiones.</a:t>
            </a:r>
            <a:endParaRPr lang="en-US" sz="111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1" y="571501"/>
            <a:ext cx="4737365" cy="527709"/>
          </a:xfrm>
          <a:prstGeom prst="rect">
            <a:avLst/>
          </a:prstGeom>
          <a:noFill/>
          <a:ln/>
        </p:spPr>
        <p:txBody>
          <a:bodyPr wrap="none" lIns="226737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 y Escalabilidad</a:t>
            </a:r>
            <a:endParaRPr lang="en-US" sz="3248" dirty="0"/>
          </a:p>
        </p:txBody>
      </p:sp>
      <p:sp>
        <p:nvSpPr>
          <p:cNvPr id="4" name="Shape 1"/>
          <p:cNvSpPr/>
          <p:nvPr/>
        </p:nvSpPr>
        <p:spPr>
          <a:xfrm>
            <a:off x="762001" y="1885951"/>
            <a:ext cx="3301975" cy="3333751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388" y="2309812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9883" y="3057526"/>
            <a:ext cx="1606209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Funcional</a:t>
            </a:r>
            <a:endParaRPr lang="en-US" sz="1591" dirty="0"/>
          </a:p>
        </p:txBody>
      </p:sp>
      <p:sp>
        <p:nvSpPr>
          <p:cNvPr id="7" name="Text 3"/>
          <p:cNvSpPr/>
          <p:nvPr/>
        </p:nvSpPr>
        <p:spPr>
          <a:xfrm>
            <a:off x="1047751" y="3524251"/>
            <a:ext cx="2730475" cy="78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33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ha logrado un sistema web completo con autenticación segura y persistencia de datos real en SQLite.</a:t>
            </a:r>
            <a:endParaRPr lang="en-US" sz="1256" dirty="0"/>
          </a:p>
        </p:txBody>
      </p:sp>
      <p:sp>
        <p:nvSpPr>
          <p:cNvPr id="8" name="Shape 4"/>
          <p:cNvSpPr/>
          <p:nvPr/>
        </p:nvSpPr>
        <p:spPr>
          <a:xfrm>
            <a:off x="4444975" y="1885951"/>
            <a:ext cx="3302012" cy="3333751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789" y="2309812"/>
            <a:ext cx="514351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3195" y="3057526"/>
            <a:ext cx="1625573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Sólida</a:t>
            </a:r>
            <a:endParaRPr lang="en-US" sz="1591" dirty="0"/>
          </a:p>
        </p:txBody>
      </p:sp>
      <p:sp>
        <p:nvSpPr>
          <p:cNvPr id="11" name="Text 6"/>
          <p:cNvSpPr/>
          <p:nvPr/>
        </p:nvSpPr>
        <p:spPr>
          <a:xfrm>
            <a:off x="4730725" y="3524251"/>
            <a:ext cx="2730512" cy="78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33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implementación del patrón MVC garantiza un código modular, fácil de mantener y documentar.</a:t>
            </a:r>
            <a:endParaRPr lang="en-US" sz="1256" dirty="0"/>
          </a:p>
        </p:txBody>
      </p:sp>
      <p:sp>
        <p:nvSpPr>
          <p:cNvPr id="12" name="Shape 7"/>
          <p:cNvSpPr/>
          <p:nvPr/>
        </p:nvSpPr>
        <p:spPr>
          <a:xfrm>
            <a:off x="8127989" y="1885951"/>
            <a:ext cx="3301975" cy="3333751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R" sz="24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375" y="2309812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32158" y="3057526"/>
            <a:ext cx="1093633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33"/>
              </a:lnSpc>
            </a:pPr>
            <a:r>
              <a:rPr lang="en-US" sz="1591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</a:t>
            </a:r>
            <a:endParaRPr lang="en-US" sz="1591" dirty="0"/>
          </a:p>
        </p:txBody>
      </p:sp>
      <p:sp>
        <p:nvSpPr>
          <p:cNvPr id="15" name="Text 9"/>
          <p:cNvSpPr/>
          <p:nvPr/>
        </p:nvSpPr>
        <p:spPr>
          <a:xfrm>
            <a:off x="8413737" y="3524251"/>
            <a:ext cx="2730475" cy="78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33"/>
              </a:lnSpc>
            </a:pPr>
            <a:r>
              <a:rPr lang="en-US" sz="1256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técnica preparada para integrar nuevas funciones como edición de perfiles o reportes avanzados.</a:t>
            </a:r>
            <a:endParaRPr lang="en-US" sz="1256" dirty="0"/>
          </a:p>
        </p:txBody>
      </p:sp>
      <p:sp>
        <p:nvSpPr>
          <p:cNvPr id="16" name="Text 10"/>
          <p:cNvSpPr/>
          <p:nvPr/>
        </p:nvSpPr>
        <p:spPr>
          <a:xfrm>
            <a:off x="5071265" y="6246019"/>
            <a:ext cx="2049471" cy="231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400" kern="0" spc="3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 POR SU ATENCIÓN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1018</Words>
  <Application>Microsoft Office PowerPoint</Application>
  <PresentationFormat>Panorámica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Fira Code</vt:lpstr>
      <vt:lpstr>Inter</vt:lpstr>
      <vt:lpstr>monospace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</dc:creator>
  <cp:lastModifiedBy>Kevin Zamora Soto</cp:lastModifiedBy>
  <cp:revision>3</cp:revision>
  <dcterms:created xsi:type="dcterms:W3CDTF">2026-04-18T16:37:37Z</dcterms:created>
  <dcterms:modified xsi:type="dcterms:W3CDTF">2026-04-18T17:46:07Z</dcterms:modified>
</cp:coreProperties>
</file>